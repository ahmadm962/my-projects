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9BBF-1BE8-28AB-C91B-89DC5DE98D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7C91E4-E6F3-20C8-45DC-2F582F06DC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6B93D-5C1E-E0AC-B4ED-0CAE34E6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99008-A0DE-464B-86D1-0847BDD276B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4D82A-285D-7C0C-0AC5-724CDB10B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1DA93-B7F1-5666-9D84-8B1661FE0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9D276-7056-4F13-9215-83166BB50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876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17CAA-6256-0AB1-B313-DBECF0C2C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17F93-CE09-BBDB-6B4F-B14723E27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1301A-DBC5-727E-E961-E820D92FA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99008-A0DE-464B-86D1-0847BDD276B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674D0-81A7-A7FE-12FD-89DA94600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43256-C379-1FC2-CDF6-EC8B0A206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9D276-7056-4F13-9215-83166BB50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146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CCBDB-E20D-89B9-DF86-8391A86E0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62A18-A2D2-1D67-7ECA-87FE9652D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DF087-37AE-B11D-EB94-C5793829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99008-A0DE-464B-86D1-0847BDD276B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F1E43-D0CA-3FE3-B6BA-460895F5A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6BFB9-D837-B86B-8647-62C4CD4A3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9D276-7056-4F13-9215-83166BB50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651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33B8-B465-2F24-09A9-317A16E19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2979E-E83A-2870-DAD7-7F3C43ED05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A88FAA-13E8-1141-184F-54BEC1A4C9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29CD32-2968-F57F-2BE9-57B9495B2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99008-A0DE-464B-86D1-0847BDD276B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F8678C-1B62-8E19-7CA6-DE09E027C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A26A03-EBC1-B382-EBCC-8FF9914FC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9D276-7056-4F13-9215-83166BB50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336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A692D-93B7-9E83-B72B-706E15596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5BCFDE-CFD6-906B-FC0D-21D7EB599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B7F246-16CB-6150-3EE9-640C191BA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F69007-0556-2B79-ACB8-BA3C51D48A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E5E6B7-AFF9-A5B4-FBDC-24E63AAA8D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565BBB-E66D-C2CB-F35B-23C6623BA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99008-A0DE-464B-86D1-0847BDD276B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D26430-66C1-F362-5142-1B5C9A50D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6BC824-93C0-5515-9B08-0CC084C16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9D276-7056-4F13-9215-83166BB50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377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9E653-3D37-80E2-9ABC-687A57244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5A338E-8CDD-9807-66EB-9FB87B297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99008-A0DE-464B-86D1-0847BDD276B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AC7190-ABCC-AF02-3546-2F5A4DC3F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F31948-2AA6-13D5-DD66-CBE6D2B78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9D276-7056-4F13-9215-83166BB50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24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0E66B9-650A-7BE0-B7C8-C68AE4B33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99008-A0DE-464B-86D1-0847BDD276B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FD94D-4AF8-0FDF-3392-ADB46F98B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6E13A-1724-31EE-25CE-340F899F7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9D276-7056-4F13-9215-83166BB50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458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BCE3E-D0DB-3B4E-1BC2-41959BC4D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3DC09-4095-285C-E2E8-EE45A56D8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C4713F-07B7-FA2B-E8DF-A3EDF7399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0B91CC-8B51-A494-D78C-C06193868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99008-A0DE-464B-86D1-0847BDD276B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5B5829-ACD2-B94B-AED1-7FF4FA086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7770F-0B74-B9BC-571F-8E09C8876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9D276-7056-4F13-9215-83166BB50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959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436CE-51ED-1E32-6BA7-5C8E24058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945F16-A4A2-A747-77DB-ED275BEA0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8074B4-FD9C-4B02-F63E-C60079309B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4223B3-1AAF-D535-288F-31DEA0F1C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99008-A0DE-464B-86D1-0847BDD276B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BFE03D-A2D8-73CA-BC8C-D4944CD1E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C50DD8-EC51-2AB4-99C2-742E545B7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9D276-7056-4F13-9215-83166BB50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264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C5BC9-03A8-EC1F-A44F-ABE3F0A6C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6C2D53-BD47-0268-1622-FCF4D3728D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1F19D-E4F6-D020-65A2-F4BFC1C55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99008-A0DE-464B-86D1-0847BDD276B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0E16B-2FFE-1A2B-1D85-56FD20DC7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C6E0E-1112-A370-85AA-D38BBBAC9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9D276-7056-4F13-9215-83166BB50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394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F8745A-A98D-80E0-5899-C21D621FEC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3018B2-BA82-288F-2260-0714CAB526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7AEF3-7C59-AA44-1785-B102A5B9B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99008-A0DE-464B-86D1-0847BDD276B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04EAA-63F9-0BE6-EF3D-D9F78BABF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E02F1-9D6B-FF35-E4E9-217E9AB13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9D276-7056-4F13-9215-83166BB50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893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FFB5ED-893B-9CD8-8AFA-C751A301F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FAB345-507A-DD31-20CD-77C3E3DDC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A3ACE-A9F5-8B54-8E9A-D99CEF9693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999008-A0DE-464B-86D1-0847BDD276B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2D225-5E15-B4C0-4431-556C0E486D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AEF18-0806-57DF-5090-DDBE8BBE8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B9D276-7056-4F13-9215-83166BB50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285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35D3C1D-A6AE-4FCA-BB76-A4748CE5D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6440D2-9674-AC66-BF32-B9C24054F1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8210" y="1365472"/>
            <a:ext cx="10978470" cy="3564636"/>
          </a:xfrm>
        </p:spPr>
        <p:txBody>
          <a:bodyPr anchor="ctr">
            <a:normAutofit/>
          </a:bodyPr>
          <a:lstStyle/>
          <a:p>
            <a:pPr algn="l"/>
            <a:r>
              <a:rPr lang="en-US" sz="2900" b="1"/>
              <a:t>Quantitative Risk Analysis Results Using FAIR</a:t>
            </a:r>
            <a:br>
              <a:rPr lang="en-US" sz="2900"/>
            </a:br>
            <a:r>
              <a:rPr lang="en-US" sz="2900" b="1"/>
              <a:t>Smart Online Examination System (SOES)</a:t>
            </a:r>
            <a:br>
              <a:rPr lang="en-US" sz="2900"/>
            </a:br>
            <a:r>
              <a:rPr lang="en-US" sz="2900" b="1"/>
              <a:t>Scenario: Exam Question Leakage</a:t>
            </a:r>
            <a:br>
              <a:rPr lang="en-US" sz="2900"/>
            </a:br>
            <a:r>
              <a:rPr lang="en-US" sz="2900"/>
              <a:t>Course: Risk Analysis &amp; Systems Testing</a:t>
            </a:r>
            <a:br>
              <a:rPr lang="en-US" sz="2900"/>
            </a:br>
            <a:r>
              <a:rPr lang="en-US" sz="2900"/>
              <a:t>Student Name: Ahmad Marwan AlMaghaireh</a:t>
            </a:r>
            <a:br>
              <a:rPr lang="en-US" sz="2900"/>
            </a:br>
            <a:r>
              <a:rPr lang="en-US" sz="2900"/>
              <a:t>Student ID: 23110205</a:t>
            </a:r>
            <a:br>
              <a:rPr lang="en-US" sz="2900"/>
            </a:br>
            <a:r>
              <a:rPr lang="en-US" sz="2900"/>
              <a:t>Date: January 2026</a:t>
            </a:r>
            <a:br>
              <a:rPr lang="en-US" sz="2900"/>
            </a:br>
            <a:endParaRPr lang="en-US" sz="29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5BF818-2283-4CC9-A120-9225CEDFA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3350"/>
            <a:ext cx="128016" cy="2468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A42EF-20CC-4BCC-9D0B-222CF3AAE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945" y="5831269"/>
            <a:ext cx="109270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27343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7EC0C6-4A09-FF7F-A417-43539600D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Loss Event Frequency (LEF)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B20770-B5D8-E960-3B39-1FFA168646FE}"/>
              </a:ext>
            </a:extLst>
          </p:cNvPr>
          <p:cNvSpPr txBox="1"/>
          <p:nvPr/>
        </p:nvSpPr>
        <p:spPr>
          <a:xfrm>
            <a:off x="371094" y="2718054"/>
            <a:ext cx="3438906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-Exam question leakage is </a:t>
            </a:r>
            <a:r>
              <a:rPr lang="en-US" sz="1700" b="1"/>
              <a:t>not rare</a:t>
            </a:r>
            <a:endParaRPr lang="en-US" sz="17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-Successful loss events are expected </a:t>
            </a:r>
            <a:r>
              <a:rPr lang="en-US" sz="1700" b="1"/>
              <a:t>multiple times per year</a:t>
            </a:r>
            <a:endParaRPr lang="en-US" sz="17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 -Driven by: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Frequent access to exam data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High attacker motivation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Weak resistance controls (no MFA, limited monitoring)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</p:txBody>
      </p:sp>
      <p:pic>
        <p:nvPicPr>
          <p:cNvPr id="5" name="Picture 4" descr="A screen shot of a card&#10;&#10;AI-generated content may be incorrect.">
            <a:extLst>
              <a:ext uri="{FF2B5EF4-FFF2-40B4-BE49-F238E27FC236}">
                <a16:creationId xmlns:a16="http://schemas.microsoft.com/office/drawing/2014/main" id="{A92E5CE9-1C38-78AC-3444-8A94FD95E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1633423"/>
            <a:ext cx="6922008" cy="36917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03A0A76-4004-2421-F427-DED3ECE286AA}"/>
              </a:ext>
            </a:extLst>
          </p:cNvPr>
          <p:cNvSpPr txBox="1"/>
          <p:nvPr/>
        </p:nvSpPr>
        <p:spPr>
          <a:xfrm>
            <a:off x="6193054" y="1310257"/>
            <a:ext cx="46790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LEF = Threat Event Frequency × Vulnerability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620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805E19-1D18-2339-6210-3DFD53743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sz="2800"/>
              <a:t>Loss Magnitude (LM)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4A154-694E-0C85-9655-1A5268FFB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700" b="1"/>
              <a:t>What This Includes</a:t>
            </a:r>
            <a:endParaRPr lang="en-US" sz="1700"/>
          </a:p>
          <a:p>
            <a:r>
              <a:rPr lang="en-US" sz="1700"/>
              <a:t>Primary losses: exam rewriting, IT response, downtime</a:t>
            </a:r>
          </a:p>
          <a:p>
            <a:r>
              <a:rPr lang="en-US" sz="1700"/>
              <a:t>Secondary losses: student complaints, investigations, reputational impact</a:t>
            </a:r>
          </a:p>
          <a:p>
            <a:pPr marL="0" indent="0">
              <a:buNone/>
            </a:pPr>
            <a:endParaRPr lang="en-US" sz="1700"/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54718CC0-9B11-7243-581F-9FC722441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1612015"/>
            <a:ext cx="6922008" cy="37345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B81533-FAD8-2632-C1E0-C33769F75409}"/>
              </a:ext>
            </a:extLst>
          </p:cNvPr>
          <p:cNvSpPr txBox="1"/>
          <p:nvPr/>
        </p:nvSpPr>
        <p:spPr>
          <a:xfrm>
            <a:off x="5821961" y="1161288"/>
            <a:ext cx="548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Loss Magnitude = Primary Loss + Secondary Loss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650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D01200-0224-43C5-AB38-FB4D16B73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9BEA23-2DDD-768A-DBA1-35AB8749F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68770" cy="1536192"/>
          </a:xfrm>
        </p:spPr>
        <p:txBody>
          <a:bodyPr anchor="b">
            <a:normAutofit/>
          </a:bodyPr>
          <a:lstStyle/>
          <a:p>
            <a:r>
              <a:rPr lang="en-US" sz="5200"/>
              <a:t>Annualized Loss Exposure (ALE)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8A44A4-A002-4A88-9FC9-1D0566C97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3202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7D5C7B-DD16-401B-85CE-4AAA2A4F5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8506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8ECF3-3821-007B-6838-9A5ED16D2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3355848"/>
            <a:ext cx="6268770" cy="2825496"/>
          </a:xfrm>
        </p:spPr>
        <p:txBody>
          <a:bodyPr>
            <a:normAutofit/>
          </a:bodyPr>
          <a:lstStyle/>
          <a:p>
            <a:r>
              <a:rPr lang="en-US" sz="2200" b="1"/>
              <a:t>Interpretation</a:t>
            </a:r>
            <a:endParaRPr lang="en-US" sz="2200"/>
          </a:p>
          <a:p>
            <a:r>
              <a:rPr lang="en-US" sz="2200"/>
              <a:t>The university is almost </a:t>
            </a:r>
            <a:r>
              <a:rPr lang="en-US" sz="2200" b="1"/>
              <a:t>certain to incur losses every year</a:t>
            </a:r>
            <a:endParaRPr lang="en-US" sz="2200"/>
          </a:p>
          <a:p>
            <a:r>
              <a:rPr lang="en-US" sz="2200"/>
              <a:t>Average expected loss ≈ </a:t>
            </a:r>
            <a:r>
              <a:rPr lang="en-US" sz="2200" b="1"/>
              <a:t>$865,000 annually</a:t>
            </a:r>
            <a:endParaRPr lang="en-US" sz="2200"/>
          </a:p>
          <a:p>
            <a:r>
              <a:rPr lang="en-US" sz="2200"/>
              <a:t>Worst-case year exceeds </a:t>
            </a:r>
            <a:r>
              <a:rPr lang="en-US" sz="2200" b="1"/>
              <a:t>$1.6 million</a:t>
            </a:r>
            <a:endParaRPr lang="en-US" sz="2200"/>
          </a:p>
          <a:p>
            <a:endParaRPr lang="en-US" sz="2200"/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95E53BED-25F6-60E3-8B39-B31AE40A7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397" y="601133"/>
            <a:ext cx="3133023" cy="5580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294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1A1C5D3-C053-4EE9-BE1A-419B6E27C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0D656A-768C-D224-BF3F-7B462C741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31034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Risk Report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Picture 4" descr="A graph showing a curve&#10;&#10;AI-generated content may be incorrect.">
            <a:extLst>
              <a:ext uri="{FF2B5EF4-FFF2-40B4-BE49-F238E27FC236}">
                <a16:creationId xmlns:a16="http://schemas.microsoft.com/office/drawing/2014/main" id="{48F93035-6BA6-2EFB-2A59-5C4E6FFA0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572" y="2174815"/>
            <a:ext cx="11420856" cy="402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39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1A1C5D3-C053-4EE9-BE1A-419B6E27C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3B8164-2FAD-35DF-6FB0-F4E0B66BC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31034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Risk Report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Picture 4" descr="A graph of a graph&#10;&#10;AI-generated content may be incorrect.">
            <a:extLst>
              <a:ext uri="{FF2B5EF4-FFF2-40B4-BE49-F238E27FC236}">
                <a16:creationId xmlns:a16="http://schemas.microsoft.com/office/drawing/2014/main" id="{207DFDD2-87AA-3F9E-0C1D-E0558E498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639" y="2139484"/>
            <a:ext cx="11300721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958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882A3-717E-574A-DB9F-F2F5C9F9A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3700" b="1" dirty="0"/>
              <a:t>What These Results Mean for HTU</a:t>
            </a:r>
            <a:br>
              <a:rPr lang="en-US" sz="3700" b="1" dirty="0"/>
            </a:br>
            <a:endParaRPr lang="en-US" sz="37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99709-751E-DA5C-8EAB-EFAAE1529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2200" b="1"/>
              <a:t>Risk Posture Assessment</a:t>
            </a:r>
            <a:endParaRPr lang="en-US" sz="2200"/>
          </a:p>
          <a:p>
            <a:r>
              <a:rPr lang="en-US" sz="2200"/>
              <a:t>High-frequency risk → </a:t>
            </a:r>
            <a:r>
              <a:rPr lang="en-US" sz="2200" b="1"/>
              <a:t>recurring incidents</a:t>
            </a:r>
            <a:endParaRPr lang="en-US" sz="2200"/>
          </a:p>
          <a:p>
            <a:r>
              <a:rPr lang="en-US" sz="2200"/>
              <a:t>High-impact losses → </a:t>
            </a:r>
            <a:r>
              <a:rPr lang="en-US" sz="2200" b="1"/>
              <a:t>six-figure cost per event</a:t>
            </a:r>
            <a:endParaRPr lang="en-US" sz="2200"/>
          </a:p>
          <a:p>
            <a:r>
              <a:rPr lang="en-US" sz="2200"/>
              <a:t>Weak controls → </a:t>
            </a:r>
            <a:r>
              <a:rPr lang="en-US" sz="2200" b="1"/>
              <a:t>systemic vulnerability</a:t>
            </a:r>
            <a:endParaRPr lang="en-US" sz="2200"/>
          </a:p>
          <a:p>
            <a:r>
              <a:rPr lang="en-US" sz="2200" b="1"/>
              <a:t>Business Impact</a:t>
            </a:r>
            <a:endParaRPr lang="en-US" sz="2200"/>
          </a:p>
          <a:p>
            <a:r>
              <a:rPr lang="en-US" sz="2200"/>
              <a:t>Financial losses are predictable and recurring</a:t>
            </a:r>
          </a:p>
          <a:p>
            <a:r>
              <a:rPr lang="en-US" sz="2200"/>
              <a:t>Academic integrity and trust are at risk</a:t>
            </a:r>
          </a:p>
          <a:p>
            <a:r>
              <a:rPr lang="en-US" sz="2200"/>
              <a:t>Reputation damage amplifies financial exposure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309063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216</Words>
  <Application>Microsoft Office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Quantitative Risk Analysis Results Using FAIR Smart Online Examination System (SOES) Scenario: Exam Question Leakage Course: Risk Analysis &amp; Systems Testing Student Name: Ahmad Marwan AlMaghaireh Student ID: 23110205 Date: January 2026 </vt:lpstr>
      <vt:lpstr>Loss Event Frequency (LEF)</vt:lpstr>
      <vt:lpstr>Loss Magnitude (LM)</vt:lpstr>
      <vt:lpstr>Annualized Loss Exposure (ALE)</vt:lpstr>
      <vt:lpstr>Risk Report</vt:lpstr>
      <vt:lpstr>Risk Report</vt:lpstr>
      <vt:lpstr>What These Results Mean for HTU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 ALMAGHAIREH</dc:creator>
  <cp:lastModifiedBy>AHMAD ALMAGHAIREH</cp:lastModifiedBy>
  <cp:revision>2</cp:revision>
  <dcterms:created xsi:type="dcterms:W3CDTF">2026-01-23T21:22:20Z</dcterms:created>
  <dcterms:modified xsi:type="dcterms:W3CDTF">2026-01-27T05:40:06Z</dcterms:modified>
</cp:coreProperties>
</file>