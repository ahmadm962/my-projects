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4"/>
  </p:sldMasterIdLst>
  <p:notesMasterIdLst>
    <p:notesMasterId r:id="rId19"/>
  </p:notesMasterIdLst>
  <p:sldIdLst>
    <p:sldId id="256" r:id="rId5"/>
    <p:sldId id="276" r:id="rId6"/>
    <p:sldId id="277" r:id="rId7"/>
    <p:sldId id="278" r:id="rId8"/>
    <p:sldId id="279" r:id="rId9"/>
    <p:sldId id="281" r:id="rId10"/>
    <p:sldId id="280" r:id="rId11"/>
    <p:sldId id="282" r:id="rId12"/>
    <p:sldId id="288" r:id="rId13"/>
    <p:sldId id="283" r:id="rId14"/>
    <p:sldId id="284" r:id="rId15"/>
    <p:sldId id="286" r:id="rId16"/>
    <p:sldId id="285" r:id="rId17"/>
    <p:sldId id="287" r:id="rId18"/>
  </p:sldIdLst>
  <p:sldSz cx="9144000" cy="5143500" type="screen16x9"/>
  <p:notesSz cx="6858000" cy="9144000"/>
  <p:embeddedFontLst>
    <p:embeddedFont>
      <p:font typeface="Garamond" panose="02020404030301010803" pitchFamily="18" charset="0"/>
      <p:regular r:id="rId20"/>
      <p:bold r:id="rId21"/>
      <p:italic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EC10C2-435D-43D5-8A8F-20828B807906}" v="4" dt="2025-01-16T06:49:19.804"/>
    <p1510:client id="{E8FCB83B-1D7D-4CA9-A5DF-90E628DA05B8}" v="4" dt="2025-01-16T07:07:05.834"/>
  </p1510:revLst>
</p1510:revInfo>
</file>

<file path=ppt/tableStyles.xml><?xml version="1.0" encoding="utf-8"?>
<a:tblStyleLst xmlns:a="http://schemas.openxmlformats.org/drawingml/2006/main" def="{06C29305-0515-463B-BEF4-AEC468A4E0A3}">
  <a:tblStyle styleId="{06C29305-0515-463B-BEF4-AEC468A4E0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4007DBA-66CA-48D6-A6D5-9493D41E22F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1645" autoAdjust="0"/>
  </p:normalViewPr>
  <p:slideViewPr>
    <p:cSldViewPr snapToGrid="0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am Malkawii" userId="8fd0a2ecfdd7c6d0" providerId="LiveId" clId="{1A0F9EFC-F559-421A-AE9F-1BDE88D374D7}"/>
    <pc:docChg chg="custSel delSld modSld">
      <pc:chgData name="Aram Malkawii" userId="8fd0a2ecfdd7c6d0" providerId="LiveId" clId="{1A0F9EFC-F559-421A-AE9F-1BDE88D374D7}" dt="2024-03-16T12:24:50.768" v="105" actId="14100"/>
      <pc:docMkLst>
        <pc:docMk/>
      </pc:docMkLst>
      <pc:sldChg chg="addSp delSp modSp mod">
        <pc:chgData name="Aram Malkawii" userId="8fd0a2ecfdd7c6d0" providerId="LiveId" clId="{1A0F9EFC-F559-421A-AE9F-1BDE88D374D7}" dt="2024-03-16T12:24:50.768" v="105" actId="14100"/>
        <pc:sldMkLst>
          <pc:docMk/>
          <pc:sldMk cId="0" sldId="265"/>
        </pc:sldMkLst>
        <pc:spChg chg="add mod">
          <ac:chgData name="Aram Malkawii" userId="8fd0a2ecfdd7c6d0" providerId="LiveId" clId="{1A0F9EFC-F559-421A-AE9F-1BDE88D374D7}" dt="2024-03-10T19:47:29.581" v="103" actId="207"/>
          <ac:spMkLst>
            <pc:docMk/>
            <pc:sldMk cId="0" sldId="265"/>
            <ac:spMk id="2" creationId="{7C4E8ACB-1075-ABB9-2359-A494EAD58687}"/>
          </ac:spMkLst>
        </pc:spChg>
        <pc:spChg chg="del mod">
          <ac:chgData name="Aram Malkawii" userId="8fd0a2ecfdd7c6d0" providerId="LiveId" clId="{1A0F9EFC-F559-421A-AE9F-1BDE88D374D7}" dt="2024-03-10T19:19:37.762" v="68" actId="478"/>
          <ac:spMkLst>
            <pc:docMk/>
            <pc:sldMk cId="0" sldId="265"/>
            <ac:spMk id="391" creationId="{00000000-0000-0000-0000-000000000000}"/>
          </ac:spMkLst>
        </pc:spChg>
        <pc:spChg chg="mod">
          <ac:chgData name="Aram Malkawii" userId="8fd0a2ecfdd7c6d0" providerId="LiveId" clId="{1A0F9EFC-F559-421A-AE9F-1BDE88D374D7}" dt="2024-03-10T19:17:29.138" v="11" actId="20577"/>
          <ac:spMkLst>
            <pc:docMk/>
            <pc:sldMk cId="0" sldId="265"/>
            <ac:spMk id="392" creationId="{00000000-0000-0000-0000-000000000000}"/>
          </ac:spMkLst>
        </pc:spChg>
        <pc:spChg chg="mod">
          <ac:chgData name="Aram Malkawii" userId="8fd0a2ecfdd7c6d0" providerId="LiveId" clId="{1A0F9EFC-F559-421A-AE9F-1BDE88D374D7}" dt="2024-03-10T19:19:04.818" v="39" actId="20577"/>
          <ac:spMkLst>
            <pc:docMk/>
            <pc:sldMk cId="0" sldId="265"/>
            <ac:spMk id="393" creationId="{00000000-0000-0000-0000-000000000000}"/>
          </ac:spMkLst>
        </pc:spChg>
        <pc:spChg chg="del mod">
          <ac:chgData name="Aram Malkawii" userId="8fd0a2ecfdd7c6d0" providerId="LiveId" clId="{1A0F9EFC-F559-421A-AE9F-1BDE88D374D7}" dt="2024-03-10T19:19:32.340" v="67" actId="478"/>
          <ac:spMkLst>
            <pc:docMk/>
            <pc:sldMk cId="0" sldId="265"/>
            <ac:spMk id="394" creationId="{00000000-0000-0000-0000-000000000000}"/>
          </ac:spMkLst>
        </pc:spChg>
        <pc:spChg chg="mod">
          <ac:chgData name="Aram Malkawii" userId="8fd0a2ecfdd7c6d0" providerId="LiveId" clId="{1A0F9EFC-F559-421A-AE9F-1BDE88D374D7}" dt="2024-03-16T12:24:50.768" v="105" actId="14100"/>
          <ac:spMkLst>
            <pc:docMk/>
            <pc:sldMk cId="0" sldId="265"/>
            <ac:spMk id="395" creationId="{00000000-0000-0000-0000-000000000000}"/>
          </ac:spMkLst>
        </pc:spChg>
        <pc:spChg chg="del mod">
          <ac:chgData name="Aram Malkawii" userId="8fd0a2ecfdd7c6d0" providerId="LiveId" clId="{1A0F9EFC-F559-421A-AE9F-1BDE88D374D7}" dt="2024-03-10T19:19:30.507" v="66" actId="478"/>
          <ac:spMkLst>
            <pc:docMk/>
            <pc:sldMk cId="0" sldId="265"/>
            <ac:spMk id="396" creationId="{00000000-0000-0000-0000-000000000000}"/>
          </ac:spMkLst>
        </pc:spChg>
        <pc:spChg chg="del">
          <ac:chgData name="Aram Malkawii" userId="8fd0a2ecfdd7c6d0" providerId="LiveId" clId="{1A0F9EFC-F559-421A-AE9F-1BDE88D374D7}" dt="2024-03-10T19:18:38.724" v="14" actId="478"/>
          <ac:spMkLst>
            <pc:docMk/>
            <pc:sldMk cId="0" sldId="265"/>
            <ac:spMk id="398" creationId="{00000000-0000-0000-0000-000000000000}"/>
          </ac:spMkLst>
        </pc:spChg>
        <pc:picChg chg="add mod">
          <ac:chgData name="Aram Malkawii" userId="8fd0a2ecfdd7c6d0" providerId="LiveId" clId="{1A0F9EFC-F559-421A-AE9F-1BDE88D374D7}" dt="2024-03-10T19:18:51.427" v="18" actId="207"/>
          <ac:picMkLst>
            <pc:docMk/>
            <pc:sldMk cId="0" sldId="265"/>
            <ac:picMk id="3" creationId="{720C65AE-B99B-DA2E-81EF-62F75F9B6827}"/>
          </ac:picMkLst>
        </pc:picChg>
      </pc:sldChg>
      <pc:sldChg chg="del">
        <pc:chgData name="Aram Malkawii" userId="8fd0a2ecfdd7c6d0" providerId="LiveId" clId="{1A0F9EFC-F559-421A-AE9F-1BDE88D374D7}" dt="2024-03-10T19:19:41.237" v="69" actId="47"/>
        <pc:sldMkLst>
          <pc:docMk/>
          <pc:sldMk cId="0" sldId="270"/>
        </pc:sldMkLst>
      </pc:sldChg>
      <pc:sldChg chg="delSp modSp mod">
        <pc:chgData name="Aram Malkawii" userId="8fd0a2ecfdd7c6d0" providerId="LiveId" clId="{1A0F9EFC-F559-421A-AE9F-1BDE88D374D7}" dt="2024-03-10T19:19:52.450" v="71" actId="478"/>
        <pc:sldMkLst>
          <pc:docMk/>
          <pc:sldMk cId="0" sldId="275"/>
        </pc:sldMkLst>
        <pc:spChg chg="mod">
          <ac:chgData name="Aram Malkawii" userId="8fd0a2ecfdd7c6d0" providerId="LiveId" clId="{1A0F9EFC-F559-421A-AE9F-1BDE88D374D7}" dt="2024-03-10T19:19:46.336" v="70" actId="20577"/>
          <ac:spMkLst>
            <pc:docMk/>
            <pc:sldMk cId="0" sldId="275"/>
            <ac:spMk id="522" creationId="{00000000-0000-0000-0000-000000000000}"/>
          </ac:spMkLst>
        </pc:spChg>
        <pc:spChg chg="del">
          <ac:chgData name="Aram Malkawii" userId="8fd0a2ecfdd7c6d0" providerId="LiveId" clId="{1A0F9EFC-F559-421A-AE9F-1BDE88D374D7}" dt="2024-03-10T19:19:52.450" v="71" actId="478"/>
          <ac:spMkLst>
            <pc:docMk/>
            <pc:sldMk cId="0" sldId="275"/>
            <ac:spMk id="523" creationId="{00000000-0000-0000-0000-000000000000}"/>
          </ac:spMkLst>
        </pc:spChg>
        <pc:spChg chg="del">
          <ac:chgData name="Aram Malkawii" userId="8fd0a2ecfdd7c6d0" providerId="LiveId" clId="{1A0F9EFC-F559-421A-AE9F-1BDE88D374D7}" dt="2024-03-10T19:19:52.450" v="71" actId="478"/>
          <ac:spMkLst>
            <pc:docMk/>
            <pc:sldMk cId="0" sldId="275"/>
            <ac:spMk id="524" creationId="{00000000-0000-0000-0000-000000000000}"/>
          </ac:spMkLst>
        </pc:spChg>
        <pc:spChg chg="del">
          <ac:chgData name="Aram Malkawii" userId="8fd0a2ecfdd7c6d0" providerId="LiveId" clId="{1A0F9EFC-F559-421A-AE9F-1BDE88D374D7}" dt="2024-03-10T19:19:52.450" v="71" actId="478"/>
          <ac:spMkLst>
            <pc:docMk/>
            <pc:sldMk cId="0" sldId="275"/>
            <ac:spMk id="525" creationId="{00000000-0000-0000-0000-000000000000}"/>
          </ac:spMkLst>
        </pc:spChg>
        <pc:spChg chg="del">
          <ac:chgData name="Aram Malkawii" userId="8fd0a2ecfdd7c6d0" providerId="LiveId" clId="{1A0F9EFC-F559-421A-AE9F-1BDE88D374D7}" dt="2024-03-10T19:19:52.450" v="71" actId="478"/>
          <ac:spMkLst>
            <pc:docMk/>
            <pc:sldMk cId="0" sldId="275"/>
            <ac:spMk id="526" creationId="{00000000-0000-0000-0000-000000000000}"/>
          </ac:spMkLst>
        </pc:spChg>
        <pc:spChg chg="del">
          <ac:chgData name="Aram Malkawii" userId="8fd0a2ecfdd7c6d0" providerId="LiveId" clId="{1A0F9EFC-F559-421A-AE9F-1BDE88D374D7}" dt="2024-03-10T19:19:52.450" v="71" actId="478"/>
          <ac:spMkLst>
            <pc:docMk/>
            <pc:sldMk cId="0" sldId="275"/>
            <ac:spMk id="527" creationId="{00000000-0000-0000-0000-000000000000}"/>
          </ac:spMkLst>
        </pc:spChg>
        <pc:spChg chg="del">
          <ac:chgData name="Aram Malkawii" userId="8fd0a2ecfdd7c6d0" providerId="LiveId" clId="{1A0F9EFC-F559-421A-AE9F-1BDE88D374D7}" dt="2024-03-10T19:19:52.450" v="71" actId="478"/>
          <ac:spMkLst>
            <pc:docMk/>
            <pc:sldMk cId="0" sldId="275"/>
            <ac:spMk id="528" creationId="{00000000-0000-0000-0000-000000000000}"/>
          </ac:spMkLst>
        </pc:spChg>
        <pc:spChg chg="del">
          <ac:chgData name="Aram Malkawii" userId="8fd0a2ecfdd7c6d0" providerId="LiveId" clId="{1A0F9EFC-F559-421A-AE9F-1BDE88D374D7}" dt="2024-03-10T19:19:52.450" v="71" actId="478"/>
          <ac:spMkLst>
            <pc:docMk/>
            <pc:sldMk cId="0" sldId="275"/>
            <ac:spMk id="529" creationId="{00000000-0000-0000-0000-000000000000}"/>
          </ac:spMkLst>
        </pc:spChg>
        <pc:spChg chg="del">
          <ac:chgData name="Aram Malkawii" userId="8fd0a2ecfdd7c6d0" providerId="LiveId" clId="{1A0F9EFC-F559-421A-AE9F-1BDE88D374D7}" dt="2024-03-10T19:19:52.450" v="71" actId="478"/>
          <ac:spMkLst>
            <pc:docMk/>
            <pc:sldMk cId="0" sldId="275"/>
            <ac:spMk id="530" creationId="{00000000-0000-0000-0000-000000000000}"/>
          </ac:spMkLst>
        </pc:spChg>
        <pc:spChg chg="del">
          <ac:chgData name="Aram Malkawii" userId="8fd0a2ecfdd7c6d0" providerId="LiveId" clId="{1A0F9EFC-F559-421A-AE9F-1BDE88D374D7}" dt="2024-03-10T19:19:52.450" v="71" actId="478"/>
          <ac:spMkLst>
            <pc:docMk/>
            <pc:sldMk cId="0" sldId="275"/>
            <ac:spMk id="531" creationId="{00000000-0000-0000-0000-000000000000}"/>
          </ac:spMkLst>
        </pc:spChg>
        <pc:spChg chg="del">
          <ac:chgData name="Aram Malkawii" userId="8fd0a2ecfdd7c6d0" providerId="LiveId" clId="{1A0F9EFC-F559-421A-AE9F-1BDE88D374D7}" dt="2024-03-10T19:19:52.450" v="71" actId="478"/>
          <ac:spMkLst>
            <pc:docMk/>
            <pc:sldMk cId="0" sldId="275"/>
            <ac:spMk id="532" creationId="{00000000-0000-0000-0000-000000000000}"/>
          </ac:spMkLst>
        </pc:spChg>
        <pc:spChg chg="del">
          <ac:chgData name="Aram Malkawii" userId="8fd0a2ecfdd7c6d0" providerId="LiveId" clId="{1A0F9EFC-F559-421A-AE9F-1BDE88D374D7}" dt="2024-03-10T19:19:52.450" v="71" actId="478"/>
          <ac:spMkLst>
            <pc:docMk/>
            <pc:sldMk cId="0" sldId="275"/>
            <ac:spMk id="533" creationId="{00000000-0000-0000-0000-000000000000}"/>
          </ac:spMkLst>
        </pc:spChg>
      </pc:sldChg>
    </pc:docChg>
  </pc:docChgLst>
  <pc:docChgLst>
    <pc:chgData name="ZAKI ZEYADEH" userId="S::21110264@htu.edu.jo::3792d953-746b-4c45-92ce-5e499fa60315" providerId="AD" clId="Web-{2AEC10C2-435D-43D5-8A8F-20828B807906}"/>
    <pc:docChg chg="modSld">
      <pc:chgData name="ZAKI ZEYADEH" userId="S::21110264@htu.edu.jo::3792d953-746b-4c45-92ce-5e499fa60315" providerId="AD" clId="Web-{2AEC10C2-435D-43D5-8A8F-20828B807906}" dt="2025-01-16T06:49:18.445" v="2" actId="20577"/>
      <pc:docMkLst>
        <pc:docMk/>
      </pc:docMkLst>
      <pc:sldChg chg="modSp">
        <pc:chgData name="ZAKI ZEYADEH" userId="S::21110264@htu.edu.jo::3792d953-746b-4c45-92ce-5e499fa60315" providerId="AD" clId="Web-{2AEC10C2-435D-43D5-8A8F-20828B807906}" dt="2025-01-16T06:49:18.445" v="2" actId="20577"/>
        <pc:sldMkLst>
          <pc:docMk/>
          <pc:sldMk cId="0" sldId="256"/>
        </pc:sldMkLst>
        <pc:spChg chg="mod">
          <ac:chgData name="ZAKI ZEYADEH" userId="S::21110264@htu.edu.jo::3792d953-746b-4c45-92ce-5e499fa60315" providerId="AD" clId="Web-{2AEC10C2-435D-43D5-8A8F-20828B807906}" dt="2025-01-16T06:49:18.445" v="2" actId="20577"/>
          <ac:spMkLst>
            <pc:docMk/>
            <pc:sldMk cId="0" sldId="256"/>
            <ac:spMk id="281" creationId="{00000000-0000-0000-0000-000000000000}"/>
          </ac:spMkLst>
        </pc:spChg>
      </pc:sldChg>
    </pc:docChg>
  </pc:docChgLst>
  <pc:docChgLst>
    <pc:chgData name="ZAKI ZEYADEH" userId="S::21110264@htu.edu.jo::3792d953-746b-4c45-92ce-5e499fa60315" providerId="AD" clId="Web-{E8FCB83B-1D7D-4CA9-A5DF-90E628DA05B8}"/>
    <pc:docChg chg="modSld">
      <pc:chgData name="ZAKI ZEYADEH" userId="S::21110264@htu.edu.jo::3792d953-746b-4c45-92ce-5e499fa60315" providerId="AD" clId="Web-{E8FCB83B-1D7D-4CA9-A5DF-90E628DA05B8}" dt="2025-01-16T07:07:05.834" v="2" actId="20577"/>
      <pc:docMkLst>
        <pc:docMk/>
      </pc:docMkLst>
      <pc:sldChg chg="modSp">
        <pc:chgData name="ZAKI ZEYADEH" userId="S::21110264@htu.edu.jo::3792d953-746b-4c45-92ce-5e499fa60315" providerId="AD" clId="Web-{E8FCB83B-1D7D-4CA9-A5DF-90E628DA05B8}" dt="2025-01-16T07:07:05.834" v="2" actId="20577"/>
        <pc:sldMkLst>
          <pc:docMk/>
          <pc:sldMk cId="0" sldId="256"/>
        </pc:sldMkLst>
        <pc:spChg chg="mod">
          <ac:chgData name="ZAKI ZEYADEH" userId="S::21110264@htu.edu.jo::3792d953-746b-4c45-92ce-5e499fa60315" providerId="AD" clId="Web-{E8FCB83B-1D7D-4CA9-A5DF-90E628DA05B8}" dt="2025-01-16T07:07:05.834" v="2" actId="20577"/>
          <ac:spMkLst>
            <pc:docMk/>
            <pc:sldMk cId="0" sldId="256"/>
            <ac:spMk id="28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b4377f90d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b4377f90d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2700" y="0"/>
            <a:ext cx="9173370" cy="5142161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299" y="1403349"/>
            <a:ext cx="5111752" cy="1136650"/>
          </a:xfrm>
        </p:spPr>
        <p:txBody>
          <a:bodyPr anchor="b">
            <a:noAutofit/>
          </a:bodyPr>
          <a:lstStyle>
            <a:lvl1pPr algn="ctr">
              <a:defRPr sz="405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299" y="2743198"/>
            <a:ext cx="5111752" cy="990602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87425" y="3778247"/>
            <a:ext cx="673100" cy="20955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9298" y="3778247"/>
            <a:ext cx="3910976" cy="2095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17676" y="3778247"/>
            <a:ext cx="413375" cy="2095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299" y="2641598"/>
            <a:ext cx="51117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40586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69106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02" y="1314454"/>
            <a:ext cx="6119016" cy="1366886"/>
          </a:xfrm>
        </p:spPr>
        <p:txBody>
          <a:bodyPr anchor="b">
            <a:normAutofit/>
          </a:bodyPr>
          <a:lstStyle>
            <a:lvl1pPr algn="ctr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300" y="2884539"/>
            <a:ext cx="6119018" cy="71591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509542" y="2782939"/>
            <a:ext cx="612253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39239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3836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6008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21404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4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50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5503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4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5503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61563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04316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196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359" y="1041401"/>
            <a:ext cx="2788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1" y="736599"/>
            <a:ext cx="4102100" cy="367030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0359" y="2273299"/>
            <a:ext cx="2788841" cy="1828803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047127" y="2184400"/>
            <a:ext cx="26358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62290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49" y="1412874"/>
            <a:ext cx="4681362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71124" y="781050"/>
            <a:ext cx="2297510" cy="35814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49" y="2441574"/>
            <a:ext cx="4681362" cy="1371600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4787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3611561"/>
            <a:ext cx="7207250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1070" y="781050"/>
            <a:ext cx="7579479" cy="2501902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51" y="4036615"/>
            <a:ext cx="7207250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77820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901" y="736599"/>
            <a:ext cx="7194549" cy="2216151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901" y="3257550"/>
            <a:ext cx="7194549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41021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77800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4600"/>
            <a:ext cx="6629402" cy="43815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5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257550"/>
            <a:ext cx="7207250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0200" y="21209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9345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2" y="2481436"/>
            <a:ext cx="7207251" cy="110160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3036"/>
            <a:ext cx="720725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4127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68275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9484"/>
            <a:ext cx="7207251" cy="66522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397250"/>
            <a:ext cx="7207251" cy="10096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0200" y="1949446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895897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736599"/>
            <a:ext cx="7207250" cy="168275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2626"/>
            <a:ext cx="7207251" cy="63093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1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3352800"/>
            <a:ext cx="7207253" cy="10541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04591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22876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9518" y="736599"/>
            <a:ext cx="1418171" cy="3670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49" y="736599"/>
            <a:ext cx="5574769" cy="36703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647918" y="742950"/>
            <a:ext cx="0" cy="36576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10477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1802" y="0"/>
            <a:ext cx="9172472" cy="5142161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1552" y="736600"/>
            <a:ext cx="7200897" cy="9779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1917699"/>
            <a:ext cx="7200897" cy="24892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254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hdr="0" ftr="0" dt="0"/>
  <p:txStyles>
    <p:titleStyle>
      <a:lvl1pPr algn="ctr" defTabSz="342900" rtl="0" eaLnBrk="1" latinLnBrk="0" hangingPunct="1">
        <a:spcBef>
          <a:spcPct val="0"/>
        </a:spcBef>
        <a:buNone/>
        <a:defRPr sz="33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5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3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"/>
          <p:cNvSpPr txBox="1">
            <a:spLocks noGrp="1"/>
          </p:cNvSpPr>
          <p:nvPr>
            <p:ph type="ctrTitle"/>
          </p:nvPr>
        </p:nvSpPr>
        <p:spPr/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000" dirty="0"/>
              <a:t>A Lightweight, Privacy-Preserving Offline Phishing Detection System Using Explainable URL-Based Analysis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5D777D-88A5-D24B-909D-E1844357AEAA}"/>
              </a:ext>
            </a:extLst>
          </p:cNvPr>
          <p:cNvSpPr txBox="1"/>
          <p:nvPr/>
        </p:nvSpPr>
        <p:spPr>
          <a:xfrm>
            <a:off x="2152357" y="2966720"/>
            <a:ext cx="483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Ahmad Marwan </a:t>
            </a:r>
            <a:r>
              <a:rPr lang="en-US" dirty="0" err="1"/>
              <a:t>AlMaghaireh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3681E-D302-D581-B8F0-E0DD1BCEF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1E252-4A18-4F5D-9F0C-B855FFF57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Brief introduction</a:t>
            </a:r>
          </a:p>
          <a:p>
            <a:r>
              <a:rPr lang="en-US" dirty="0"/>
              <a:t>Research Questions</a:t>
            </a:r>
          </a:p>
          <a:p>
            <a:r>
              <a:rPr lang="en-US" dirty="0"/>
              <a:t>Data collection (Primary and secondary)</a:t>
            </a:r>
          </a:p>
          <a:p>
            <a:r>
              <a:rPr lang="en-US" dirty="0"/>
              <a:t>Methodology</a:t>
            </a:r>
          </a:p>
          <a:p>
            <a:r>
              <a:rPr lang="en-US" dirty="0"/>
              <a:t>Main findings and results (Primary and secondary)</a:t>
            </a:r>
          </a:p>
          <a:p>
            <a:r>
              <a:rPr lang="en-US" dirty="0"/>
              <a:t>Recommendations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736B5-6458-1426-751F-099545B6A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210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E1BD9-F279-A29A-85D8-BE1E10EA0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73FB-0767-5D3C-238F-DDA3C1781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69308-8D71-3239-04D9-6704BDFD6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BD7F43B-75D3-A3DC-E892-6B767C16E6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8684" y="2126129"/>
            <a:ext cx="777939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Phishing remains one of the most effective cyberattacks despite widespread browser security mechanisms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Many existing solutions rely on cloud-based analysis and reputation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These approaches introduce privacy concerns, network latency, and dependency on external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Additionally, intrusive pop-up warnings often lead to alert fatigue and are ignored by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This research addresses both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technical detection performance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user experience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which leads to two core research questions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694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AA8A4-009F-03BC-56E3-A1D93D4E2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FDF5B-859D-03A5-137A-1D835219C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5CDC3-E539-E72C-AC78-ABEB3C04B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71AA4D8-0074-84F6-E58C-3BE6A73784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1552" y="2044440"/>
            <a:ext cx="697913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RQ1: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a lightweight machine-learning model, trained only 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intrinsic URL features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 high phishing detection accuracy while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running fully offline in real-time browser environments?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RQ2: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inline underline-style phishing warnings perceived by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as more usable, less intrusive,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privacy-preserving than traditional pop-up or blocking warnings?</a:t>
            </a:r>
          </a:p>
        </p:txBody>
      </p:sp>
    </p:spTree>
    <p:extLst>
      <p:ext uri="{BB962C8B-B14F-4D97-AF65-F5344CB8AC3E}">
        <p14:creationId xmlns:p14="http://schemas.microsoft.com/office/powerpoint/2010/main" val="2046627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B453B-3C8F-9D13-C3C0-88A15F664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68430-A206-8989-2D00-650BF2D80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 :Primary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B80D7-CF6B-FCE4-B595-5CB8980BA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31FC104-044F-B247-E011-68D0C0E0D8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1551" y="2008138"/>
            <a:ext cx="734367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Primary data collected through an online survey using Google Forms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33 adult participants, all providing informed consent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Survey focused 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Experience with phishing attempts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Perceptions of privacy and cloud-based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Usability and intrusiveness of different warning mechanisms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 responses were anonymous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quantitative (Likert-scale and multiple-choice)</a:t>
            </a:r>
          </a:p>
        </p:txBody>
      </p:sp>
    </p:spTree>
    <p:extLst>
      <p:ext uri="{BB962C8B-B14F-4D97-AF65-F5344CB8AC3E}">
        <p14:creationId xmlns:p14="http://schemas.microsoft.com/office/powerpoint/2010/main" val="261750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5AFE7-C696-6B5D-10C4-22DFA5E46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6BEFD-9A78-4B2B-B56E-9FFF67B15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 : secondary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12AAB-42BB-04FF-DE2D-791A109B8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5451F55-959A-5D55-9C8C-52B8513472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2635" y="2954087"/>
            <a:ext cx="26511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Secondary data obtained from the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PhiUSIIL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Phishing URL Dataset (2023)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contains approximately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235,000 URLs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56 features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 classification: phishing vs legitimate URLs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 include: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URL lexical and structural characteristics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Lightweight indicators computable without network access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External and oracle-based features were excluded to enforce offline operation</a:t>
            </a:r>
          </a:p>
        </p:txBody>
      </p:sp>
    </p:spTree>
    <p:extLst>
      <p:ext uri="{BB962C8B-B14F-4D97-AF65-F5344CB8AC3E}">
        <p14:creationId xmlns:p14="http://schemas.microsoft.com/office/powerpoint/2010/main" val="4201231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69A684-90B9-D41E-ADA1-23D126A79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33F0879-3DA0-4CB8-B35E-A0AD4255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4D2183-F388-476E-92A9-D6639D69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603" y="372067"/>
            <a:ext cx="2867411" cy="4412471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3462E7-1698-4B21-BE89-AEFAC7C2F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09" y="457201"/>
            <a:ext cx="2664004" cy="42291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1BFD68-50C7-2A68-508C-EE2131BC1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855" y="729574"/>
            <a:ext cx="2126598" cy="941151"/>
          </a:xfrm>
        </p:spPr>
        <p:txBody>
          <a:bodyPr anchor="b">
            <a:normAutofit/>
          </a:bodyPr>
          <a:lstStyle/>
          <a:p>
            <a:r>
              <a:rPr lang="en-US" sz="2100">
                <a:solidFill>
                  <a:srgbClr val="262626"/>
                </a:solidFill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88A04-0CB2-C859-A50C-6F709A00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855" y="1822853"/>
            <a:ext cx="2126598" cy="2664029"/>
          </a:xfrm>
        </p:spPr>
        <p:txBody>
          <a:bodyPr>
            <a:normAutofit/>
          </a:bodyPr>
          <a:lstStyle/>
          <a:p>
            <a:r>
              <a:rPr lang="en-US" sz="1400">
                <a:solidFill>
                  <a:srgbClr val="262626"/>
                </a:solidFill>
              </a:rPr>
              <a:t>The following figure illustrates the complete technical methodology adopted in this research, from data preprocessing and feature selection to model training, evaluation, explainability, and browser-based deployment.</a:t>
            </a: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C22FCAC-D7EC-4A52-B153-FF761E223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618" y="0"/>
            <a:ext cx="5547382" cy="51435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software model&#10;&#10;AI-generated content may be incorrect.">
            <a:extLst>
              <a:ext uri="{FF2B5EF4-FFF2-40B4-BE49-F238E27FC236}">
                <a16:creationId xmlns:a16="http://schemas.microsoft.com/office/drawing/2014/main" id="{CD0D2096-B9DA-307B-E4D4-C04DE79CE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869" y="457201"/>
            <a:ext cx="4033656" cy="419081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65FEA-88A5-17E7-5FA5-88F81A66C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87222" y="4784537"/>
            <a:ext cx="407023" cy="2095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97799C9-84D9-46D2-A11E-BCF8A720529D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30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AA8CD-1C53-337A-7681-509B2FCB7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F3586-0412-92FA-3717-FAABB1100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Main findings and results : Primary Data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C732C-01D1-82A8-F9C0-E62E1894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03EA1AD-9119-D3E3-8E4E-E9DA1651F3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4875" y="2020695"/>
            <a:ext cx="6492052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user preference for privacy-preserving tools:	</a:t>
            </a:r>
          </a:p>
          <a:p>
            <a:pPr marL="3429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75.8% preferred offline analysis over cloud-based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dissatisfaction with traditional warnings:</a:t>
            </a:r>
          </a:p>
          <a:p>
            <a:pPr marL="3429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66.7% rated pop-up warnings as annoying or very annoying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acceptance of inline warnings:</a:t>
            </a:r>
          </a:p>
          <a:p>
            <a:pPr marL="3429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97% preferred underline-style warnings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Majority reported they would double-check underlined links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243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A9B283-E521-EEA1-6A25-F322BA242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BD642B1-E8A0-4B5B-8E4A-D8EF15A08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2700" y="0"/>
            <a:ext cx="9173369" cy="5142160"/>
            <a:chOff x="-16934" y="0"/>
            <a:chExt cx="12231160" cy="685621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41D71B9-BFD9-40DE-BC3B-E64BA2895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2504B9E-D812-4C78-9981-5F48C1288A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F886AB1-61BE-4427-BED7-571CF1EF1C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912E8F6-1094-49C1-B7CD-CC46B33D6F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870FE29-3AF7-4226-8303-7C1B0B8E1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019299" y="2641598"/>
            <a:ext cx="51117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AE3107B-714A-461C-AC2A-394A70CFC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B3F6FE8-AF7E-4703-AB78-FD9AFD2AC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1802" y="0"/>
            <a:ext cx="9172471" cy="5142160"/>
            <a:chOff x="-15736" y="0"/>
            <a:chExt cx="12229962" cy="6856214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6E95CD8-B3B8-425C-8484-D08634E4B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395F701-DCB7-480C-817B-538CD262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7BFDE70-806B-4B63-9B0E-CC97A2E3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B4FC4EAC-1FD8-4625-8AFF-04A0436131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656A48-CC89-EC1D-6DEB-6BA652C8F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913" y="781050"/>
            <a:ext cx="3383748" cy="17589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>
              <a:lnSpc>
                <a:spcPct val="90000"/>
              </a:lnSpc>
            </a:pPr>
            <a:r>
              <a:rPr lang="en-US" sz="3000" kern="1200" cap="none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rPr>
              <a:t>Main findings and results : Primary Data</a:t>
            </a:r>
            <a:br>
              <a:rPr lang="en-US" sz="3000" kern="1200" cap="none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rPr>
            </a:br>
            <a:endParaRPr lang="en-US" sz="3000" kern="1200" cap="none" dirty="0">
              <a:ln w="3175" cmpd="sng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+mj-lt"/>
              <a:ea typeface="+mj-ea"/>
              <a:cs typeface="+mj-cs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36D75B7-CF09-4927-A857-F37750026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4477" y="2632329"/>
            <a:ext cx="2674620" cy="92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0E0A986F-4D9A-4E32-8DBD-A2B117A2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9327" y="819150"/>
            <a:ext cx="3752517" cy="3528822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aph with purple rectangles&#10;&#10;AI-generated content may be incorrect.">
            <a:extLst>
              <a:ext uri="{FF2B5EF4-FFF2-40B4-BE49-F238E27FC236}">
                <a16:creationId xmlns:a16="http://schemas.microsoft.com/office/drawing/2014/main" id="{0BD10CF3-0A37-B96E-13A5-0A72FEC530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4138" y="1239724"/>
            <a:ext cx="3487260" cy="1299004"/>
          </a:xfrm>
          <a:prstGeom prst="rect">
            <a:avLst/>
          </a:prstGeom>
        </p:spPr>
      </p:pic>
      <p:pic>
        <p:nvPicPr>
          <p:cNvPr id="7" name="Picture 6" descr="A graph with a purple bar and numbers&#10;&#10;AI-generated content may be incorrect.">
            <a:extLst>
              <a:ext uri="{FF2B5EF4-FFF2-40B4-BE49-F238E27FC236}">
                <a16:creationId xmlns:a16="http://schemas.microsoft.com/office/drawing/2014/main" id="{D594F505-6528-A58B-FCC8-3C02175CEE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4233" y="2641598"/>
            <a:ext cx="3478488" cy="124355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18D03-1ED7-7AF0-4944-0BCF9D731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3256" y="4450842"/>
            <a:ext cx="413375" cy="2095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97799C9-84D9-46D2-A11E-BCF8A720529D}" type="slidenum">
              <a:rPr lang="en-US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 sz="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8E668F-724D-BFE0-C736-D38E044D1089}"/>
              </a:ext>
            </a:extLst>
          </p:cNvPr>
          <p:cNvSpPr txBox="1"/>
          <p:nvPr/>
        </p:nvSpPr>
        <p:spPr>
          <a:xfrm>
            <a:off x="4912483" y="3879525"/>
            <a:ext cx="32318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Participant ratings of the usefulness of inline underline warnings.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C32623-BB5F-5442-1AA6-854261ED987E}"/>
              </a:ext>
            </a:extLst>
          </p:cNvPr>
          <p:cNvSpPr txBox="1"/>
          <p:nvPr/>
        </p:nvSpPr>
        <p:spPr>
          <a:xfrm>
            <a:off x="4858403" y="2332656"/>
            <a:ext cx="383668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Participant ratings of the intrusiveness of traditional security warnings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67096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9A017-AB2F-BFD7-8ADB-2F790C946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B5F6B-FA46-08B1-26CC-2B8CFE102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Main findings and results : secondary Data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47FFF-D22E-12FD-33AC-DBE26B0F7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083A12C-2A97-A185-5FF7-FAB032F7B7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2024" y="1935585"/>
            <a:ext cx="614594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URL-only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was trained and evaluated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approximately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99.93% accuracy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the balanced operating point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phishing miss rate and false-alarm rate remained below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0.1%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Inference completed in the millisecond range, supporting real-time browser execution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 achieved without cloud services or external feature lookups</a:t>
            </a:r>
          </a:p>
        </p:txBody>
      </p:sp>
    </p:spTree>
    <p:extLst>
      <p:ext uri="{BB962C8B-B14F-4D97-AF65-F5344CB8AC3E}">
        <p14:creationId xmlns:p14="http://schemas.microsoft.com/office/powerpoint/2010/main" val="936626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A25427-06F5-B084-A331-739F59D85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0581C-201A-9D4D-1BEC-626F38DBA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1" y="736599"/>
            <a:ext cx="7200897" cy="9779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>
                <a:solidFill>
                  <a:srgbClr val="262626"/>
                </a:solidFill>
              </a:rPr>
              <a:t>Main findings and results : secondary Data</a:t>
            </a:r>
            <a:br>
              <a:rPr lang="en-US" sz="3100">
                <a:solidFill>
                  <a:srgbClr val="262626"/>
                </a:solidFill>
              </a:rPr>
            </a:br>
            <a:endParaRPr lang="en-US" sz="3100">
              <a:solidFill>
                <a:srgbClr val="262626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D52C6-8D16-8399-6498-08DAB04E0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5425" y="4476750"/>
            <a:ext cx="407023" cy="2095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97799C9-84D9-46D2-A11E-BCF8A720529D}" type="slidenum">
              <a:rPr lang="en-US">
                <a:solidFill>
                  <a:srgbClr val="000000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F4363BC-1004-0E5A-CAD6-92BEA52277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3772005"/>
              </p:ext>
            </p:extLst>
          </p:nvPr>
        </p:nvGraphicFramePr>
        <p:xfrm>
          <a:off x="577516" y="2092325"/>
          <a:ext cx="8127328" cy="2489200"/>
        </p:xfrm>
        <a:graphic>
          <a:graphicData uri="http://schemas.openxmlformats.org/drawingml/2006/table">
            <a:tbl>
              <a:tblPr firstRow="1" firstCol="1" bandRow="1">
                <a:tableStyleId>{06C29305-0515-463B-BEF4-AEC468A4E0A3}</a:tableStyleId>
              </a:tblPr>
              <a:tblGrid>
                <a:gridCol w="1058128">
                  <a:extLst>
                    <a:ext uri="{9D8B030D-6E8A-4147-A177-3AD203B41FA5}">
                      <a16:colId xmlns:a16="http://schemas.microsoft.com/office/drawing/2014/main" val="3639164172"/>
                    </a:ext>
                  </a:extLst>
                </a:gridCol>
                <a:gridCol w="1058128">
                  <a:extLst>
                    <a:ext uri="{9D8B030D-6E8A-4147-A177-3AD203B41FA5}">
                      <a16:colId xmlns:a16="http://schemas.microsoft.com/office/drawing/2014/main" val="3070494096"/>
                    </a:ext>
                  </a:extLst>
                </a:gridCol>
                <a:gridCol w="1023995">
                  <a:extLst>
                    <a:ext uri="{9D8B030D-6E8A-4147-A177-3AD203B41FA5}">
                      <a16:colId xmlns:a16="http://schemas.microsoft.com/office/drawing/2014/main" val="4127502769"/>
                    </a:ext>
                  </a:extLst>
                </a:gridCol>
                <a:gridCol w="1013101">
                  <a:extLst>
                    <a:ext uri="{9D8B030D-6E8A-4147-A177-3AD203B41FA5}">
                      <a16:colId xmlns:a16="http://schemas.microsoft.com/office/drawing/2014/main" val="1727335315"/>
                    </a:ext>
                  </a:extLst>
                </a:gridCol>
                <a:gridCol w="993494">
                  <a:extLst>
                    <a:ext uri="{9D8B030D-6E8A-4147-A177-3AD203B41FA5}">
                      <a16:colId xmlns:a16="http://schemas.microsoft.com/office/drawing/2014/main" val="3114924650"/>
                    </a:ext>
                  </a:extLst>
                </a:gridCol>
                <a:gridCol w="993494">
                  <a:extLst>
                    <a:ext uri="{9D8B030D-6E8A-4147-A177-3AD203B41FA5}">
                      <a16:colId xmlns:a16="http://schemas.microsoft.com/office/drawing/2014/main" val="1793486278"/>
                    </a:ext>
                  </a:extLst>
                </a:gridCol>
                <a:gridCol w="993494">
                  <a:extLst>
                    <a:ext uri="{9D8B030D-6E8A-4147-A177-3AD203B41FA5}">
                      <a16:colId xmlns:a16="http://schemas.microsoft.com/office/drawing/2014/main" val="1312883217"/>
                    </a:ext>
                  </a:extLst>
                </a:gridCol>
                <a:gridCol w="993494">
                  <a:extLst>
                    <a:ext uri="{9D8B030D-6E8A-4147-A177-3AD203B41FA5}">
                      <a16:colId xmlns:a16="http://schemas.microsoft.com/office/drawing/2014/main" val="1782593909"/>
                    </a:ext>
                  </a:extLst>
                </a:gridCol>
              </a:tblGrid>
              <a:tr h="553334"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Operating Policy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Threshold (P_legit)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Accuracy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Precision (Legit)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Recall (Legit)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F1-Score (Legit)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Phish Miss Rate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Legit False-Alarm Rate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extLst>
                  <a:ext uri="{0D108BD9-81ED-4DB2-BD59-A6C34878D82A}">
                    <a16:rowId xmlns:a16="http://schemas.microsoft.com/office/drawing/2014/main" val="1069736988"/>
                  </a:ext>
                </a:extLst>
              </a:tr>
              <a:tr h="691266"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Balanced (Min miss + false alarm)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0.63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0.999279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0.999407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0.999333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0.999370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0.000792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0.000667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extLst>
                  <a:ext uri="{0D108BD9-81ED-4DB2-BD59-A6C34878D82A}">
                    <a16:rowId xmlns:a16="http://schemas.microsoft.com/office/drawing/2014/main" val="3328623591"/>
                  </a:ext>
                </a:extLst>
              </a:tr>
              <a:tr h="691266"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Low False Alarm (Miss ≤ 0.2%)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0.30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0.998982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0.998519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0.999703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0.999111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0.001981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0.000297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extLst>
                  <a:ext uri="{0D108BD9-81ED-4DB2-BD59-A6C34878D82A}">
                    <a16:rowId xmlns:a16="http://schemas.microsoft.com/office/drawing/2014/main" val="1648040346"/>
                  </a:ext>
                </a:extLst>
              </a:tr>
              <a:tr h="553334"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Low Miss (False Alarm ≤ 0.05%)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0.48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0.999237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0.999111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0.999555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0.999333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0.001189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tc>
                  <a:txBody>
                    <a:bodyPr/>
                    <a:lstStyle/>
                    <a:p>
                      <a:pPr marR="502920" indent="144145" algn="just" hangingPunct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0.000445</a:t>
                      </a:r>
                      <a:endParaRPr lang="en-US" sz="9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1" marR="8621" marT="8621" marB="8621" anchor="ctr"/>
                </a:tc>
                <a:extLst>
                  <a:ext uri="{0D108BD9-81ED-4DB2-BD59-A6C34878D82A}">
                    <a16:rowId xmlns:a16="http://schemas.microsoft.com/office/drawing/2014/main" val="2124962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8408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DA69E-BE5E-CEC3-3F37-BD82AE9CA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A2A51-3603-06A4-BC46-EBA4A8C9C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Research Questions: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41768-5D28-3397-58E4-6F81F4784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Answer to RQ1:</a:t>
            </a:r>
            <a:br>
              <a:rPr lang="en-US" dirty="0"/>
            </a:br>
            <a:r>
              <a:rPr lang="en-US" dirty="0"/>
              <a:t>The results demonstrate that a lightweight, fully offline URL-based model can achieve very high detection performance while remaining suitable for real-time, browser-native deployment.</a:t>
            </a:r>
          </a:p>
          <a:p>
            <a:r>
              <a:rPr lang="en-US" b="1" dirty="0"/>
              <a:t>Answer to RQ2:</a:t>
            </a:r>
            <a:br>
              <a:rPr lang="en-US" dirty="0"/>
            </a:br>
            <a:r>
              <a:rPr lang="en-US" dirty="0"/>
              <a:t>Survey findings indicate that users clearly prefer inline underline warnings, perceiving them as less intrusive and more usable than traditional pop-up alerts, while also aligning with privacy expectations.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0F7E2-BE80-39B1-6A28-5E3B5C1A9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144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5F25D-2BEB-EADB-271B-A46B745A8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FEEFF-38CD-AB39-FED4-AF5746919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Recommendations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76692-5445-2BDB-27BB-E669DB7FA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58E4DA4-5AB4-2188-8591-31310BCF87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1551" y="1823978"/>
            <a:ext cx="689409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Adopt offline, URL-only phishing detection architectures to preserve user privacy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Prioritise lightweight models that can run directly in the browser without latency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Replace intrusive pop-up warnings with subtle inline visual indicators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simple, local explanations to improve trust and understanding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 user control mechanisms such as local allowlists to handle false positives</a:t>
            </a:r>
          </a:p>
        </p:txBody>
      </p:sp>
    </p:spTree>
    <p:extLst>
      <p:ext uri="{BB962C8B-B14F-4D97-AF65-F5344CB8AC3E}">
        <p14:creationId xmlns:p14="http://schemas.microsoft.com/office/powerpoint/2010/main" val="2336808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0C4AE-B480-A9D0-F1AE-DC05C9A3B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80548-E910-479E-7CC4-547F621F3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43890-3F3D-92E4-4671-C328724DF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14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136F752-7F60-7156-6964-2A194AA7E2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0817" y="2259368"/>
            <a:ext cx="732236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phishing detection accuracy can be achieved without cloud dependence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Privacy preservation and usability significantly influence user trust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Combining lightweight models, explainability, and non-intrusive warnings leads to more deployable and user-accepted security systems</a:t>
            </a:r>
          </a:p>
        </p:txBody>
      </p:sp>
    </p:spTree>
    <p:extLst>
      <p:ext uri="{BB962C8B-B14F-4D97-AF65-F5344CB8AC3E}">
        <p14:creationId xmlns:p14="http://schemas.microsoft.com/office/powerpoint/2010/main" val="19579600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d6245ae-b4b8-48ec-a9a0-ffbf71a20c8c">
      <Terms xmlns="http://schemas.microsoft.com/office/infopath/2007/PartnerControls"/>
    </lcf76f155ced4ddcb4097134ff3c332f>
    <TaxCatchAll xmlns="09816bcb-bfe2-4684-9175-d32a3306e89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77FC50DB4002459CC1CD30BF619092" ma:contentTypeVersion="12" ma:contentTypeDescription="Create a new document." ma:contentTypeScope="" ma:versionID="15437f40afb38f21312bd15f7b6e26a3">
  <xsd:schema xmlns:xsd="http://www.w3.org/2001/XMLSchema" xmlns:xs="http://www.w3.org/2001/XMLSchema" xmlns:p="http://schemas.microsoft.com/office/2006/metadata/properties" xmlns:ns2="2d6245ae-b4b8-48ec-a9a0-ffbf71a20c8c" xmlns:ns3="09816bcb-bfe2-4684-9175-d32a3306e892" targetNamespace="http://schemas.microsoft.com/office/2006/metadata/properties" ma:root="true" ma:fieldsID="76621733a4e500835d00c7dbba16d878" ns2:_="" ns3:_="">
    <xsd:import namespace="2d6245ae-b4b8-48ec-a9a0-ffbf71a20c8c"/>
    <xsd:import namespace="09816bcb-bfe2-4684-9175-d32a3306e8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6245ae-b4b8-48ec-a9a0-ffbf71a20c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d07ed373-0d48-45e2-9f92-3017cfc5a9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816bcb-bfe2-4684-9175-d32a3306e89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20b94a7-95d5-4fd8-8fb1-e41167351ab5}" ma:internalName="TaxCatchAll" ma:showField="CatchAllData" ma:web="09816bcb-bfe2-4684-9175-d32a3306e8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6582E07-00C2-4A77-B8DD-EFE928A34535}">
  <ds:schemaRefs>
    <ds:schemaRef ds:uri="http://schemas.microsoft.com/office/2006/metadata/properties"/>
    <ds:schemaRef ds:uri="http://schemas.microsoft.com/office/infopath/2007/PartnerControls"/>
    <ds:schemaRef ds:uri="2d6245ae-b4b8-48ec-a9a0-ffbf71a20c8c"/>
    <ds:schemaRef ds:uri="09816bcb-bfe2-4684-9175-d32a3306e892"/>
  </ds:schemaRefs>
</ds:datastoreItem>
</file>

<file path=customXml/itemProps2.xml><?xml version="1.0" encoding="utf-8"?>
<ds:datastoreItem xmlns:ds="http://schemas.openxmlformats.org/officeDocument/2006/customXml" ds:itemID="{29B51638-3FC3-4887-B07F-7C4DC52524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6245ae-b4b8-48ec-a9a0-ffbf71a20c8c"/>
    <ds:schemaRef ds:uri="09816bcb-bfe2-4684-9175-d32a3306e8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54EB4B9-BEA5-4243-AD38-082A0A6E3F6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884</TotalTime>
  <Words>719</Words>
  <Application>Microsoft Office PowerPoint</Application>
  <PresentationFormat>On-screen Show (16:9)</PresentationFormat>
  <Paragraphs>124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Times New Roman</vt:lpstr>
      <vt:lpstr>Arial</vt:lpstr>
      <vt:lpstr>Garamond</vt:lpstr>
      <vt:lpstr>Organic</vt:lpstr>
      <vt:lpstr>A Lightweight, Privacy-Preserving Offline Phishing Detection System Using Explainable URL-Based Analysis </vt:lpstr>
      <vt:lpstr>Agenda</vt:lpstr>
      <vt:lpstr>introduction</vt:lpstr>
      <vt:lpstr>Research Questions</vt:lpstr>
      <vt:lpstr>Data collection :Primary Data</vt:lpstr>
      <vt:lpstr>Data collection : secondary Data</vt:lpstr>
      <vt:lpstr>Methodology</vt:lpstr>
      <vt:lpstr>Main findings and results : Primary Data </vt:lpstr>
      <vt:lpstr>Main findings and results : Primary Data </vt:lpstr>
      <vt:lpstr>Main findings and results : secondary Data </vt:lpstr>
      <vt:lpstr>Main findings and results : secondary Data </vt:lpstr>
      <vt:lpstr>Research Questions: Answers</vt:lpstr>
      <vt:lpstr>Recommendations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Hadoop challenges in big data security </dc:title>
  <cp:lastModifiedBy>AHMAD ALMAGHAIREH</cp:lastModifiedBy>
  <cp:revision>39</cp:revision>
  <dcterms:modified xsi:type="dcterms:W3CDTF">2025-12-27T22:47:40Z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0x010100CE77FC50DB4002459CC1CD30BF619092</vt:lpwstr>
  </property>
</Properties>
</file>