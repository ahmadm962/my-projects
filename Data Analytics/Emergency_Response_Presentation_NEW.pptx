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8" r:id="rId4"/>
    <p:sldId id="27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03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Analytics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Decision Optimization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3017520"/>
            <a:ext cx="1828800" cy="54864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(10204210) — BTEC Unit F/618/7415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/ ID / Section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analytics?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is the process of examining data to uncover patterns, trends, and insights that inform decision-making. It transforms raw operational data into actionable intelligence.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51760" cy="502920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happened?"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Summarises historical data using statistics and visualisations to understand past performance.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657600"/>
            <a:ext cx="2377440" cy="548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1: 9 techniques on 105K incidents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691640"/>
            <a:ext cx="2651760" cy="50292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7190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will happen?"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651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machine learning models to forecast future outcomes from historical patterns.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3657600"/>
            <a:ext cx="2377440" cy="548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2044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2: 4 models including LSTM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691640"/>
            <a:ext cx="2651760" cy="502920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7190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we do?"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651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Optimises decisions using algorithms that find the best action within constraints.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3657600"/>
            <a:ext cx="2377440" cy="548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3: Genetic Algorithm with pygad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3435A5-3486-D1A4-AFD5-9A7239323A5D}"/>
              </a:ext>
            </a:extLst>
          </p:cNvPr>
          <p:cNvSpPr txBox="1"/>
          <p:nvPr/>
        </p:nvSpPr>
        <p:spPr>
          <a:xfrm>
            <a:off x="188779" y="587123"/>
            <a:ext cx="868385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Descriptive — "What happened?"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• </a:t>
            </a:r>
            <a:r>
              <a:rPr lang="en-US" sz="1200" b="0" i="0" dirty="0" err="1">
                <a:effectLst/>
                <a:latin typeface="Consolas" panose="020B0609020204030204" pitchFamily="49" charset="0"/>
              </a:rPr>
              <a:t>Summarises</a:t>
            </a:r>
            <a:r>
              <a:rPr lang="en-US" sz="1200" b="0" i="0" dirty="0">
                <a:effectLst/>
                <a:latin typeface="Consolas" panose="020B0609020204030204" pitchFamily="49" charset="0"/>
              </a:rPr>
              <a:t> history into KPIs and visuals.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• Industry use: BI dashboards (Power BI/Tableau) for retail sales reporting; hospital KPI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  monitoring; web/marketing traffic reports.</a:t>
            </a:r>
          </a:p>
          <a:p>
            <a:pPr algn="l">
              <a:buNone/>
            </a:pPr>
            <a:endParaRPr lang="en-US" sz="1200" b="0" i="0" dirty="0"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Predictive — "What will happen?"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• Uses ML to forecast future outcomes.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• Industry use: demand forecasting (retail/supply chain); credit-risk scoring (banking);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  predictive maintenance (manufacturing); fraud detection (payments).</a:t>
            </a:r>
          </a:p>
          <a:p>
            <a:pPr algn="l">
              <a:buNone/>
            </a:pPr>
            <a:endParaRPr lang="en-US" sz="1200" b="0" i="0" dirty="0"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Prescriptive — "What should we do?"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• Recommends the best action within constraints via </a:t>
            </a:r>
            <a:r>
              <a:rPr lang="en-US" sz="1200" b="0" i="0" dirty="0" err="1">
                <a:effectLst/>
                <a:latin typeface="Consolas" panose="020B0609020204030204" pitchFamily="49" charset="0"/>
              </a:rPr>
              <a:t>optimisation</a:t>
            </a:r>
            <a:r>
              <a:rPr lang="en-US" sz="1200" b="0" i="0" dirty="0">
                <a:effectLst/>
                <a:latin typeface="Consolas" panose="020B0609020204030204" pitchFamily="49" charset="0"/>
              </a:rPr>
              <a:t>.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• Industry use: delivery-route </a:t>
            </a:r>
            <a:r>
              <a:rPr lang="en-US" sz="1200" b="0" i="0" dirty="0" err="1">
                <a:effectLst/>
                <a:latin typeface="Consolas" panose="020B0609020204030204" pitchFamily="49" charset="0"/>
              </a:rPr>
              <a:t>optimisation</a:t>
            </a:r>
            <a:r>
              <a:rPr lang="en-US" sz="1200" b="0" i="0" dirty="0">
                <a:effectLst/>
                <a:latin typeface="Consolas" panose="020B0609020204030204" pitchFamily="49" charset="0"/>
              </a:rPr>
              <a:t> (logistics, e.g. UPS ORION); airline crew &amp;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  fleet scheduling; dynamic pricing; emergency-services dispatch (this project).</a:t>
            </a:r>
          </a:p>
          <a:p>
            <a:pPr algn="l">
              <a:buNone/>
            </a:pPr>
            <a:endParaRPr lang="en-US" sz="1200" b="0" i="0" dirty="0"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In this project: Activity 1 = descriptive, Activity 2 = predictive, Activity 3 = prescriptive —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the same three-stage pipeline used across industry.</a:t>
            </a:r>
            <a:endParaRPr lang="en-US" sz="1200" b="0" i="0" dirty="0"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071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F989AC-D65B-D74B-B3F9-57185F803343}"/>
              </a:ext>
            </a:extLst>
          </p:cNvPr>
          <p:cNvSpPr txBox="1"/>
          <p:nvPr/>
        </p:nvSpPr>
        <p:spPr>
          <a:xfrm>
            <a:off x="474898" y="494258"/>
            <a:ext cx="779009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Benefits demonstrated in this project: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• Evidence over intuition: descriptive analytics set a data-driven SLA (P90 = 21.44 min)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  instead of a guessed target.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• Knowing the limits of forecasting: predictive analytics revealed there is NO learnable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  feature–response-time signal (all |r|≈0, R²≈0) — an evaluation finding that stops the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  </a:t>
            </a:r>
            <a:r>
              <a:rPr lang="en-US" sz="1200" b="0" i="0" dirty="0" err="1">
                <a:effectLst/>
                <a:latin typeface="Consolas" panose="020B0609020204030204" pitchFamily="49" charset="0"/>
              </a:rPr>
              <a:t>centre</a:t>
            </a:r>
            <a:r>
              <a:rPr lang="en-US" sz="1200" b="0" i="0" dirty="0">
                <a:effectLst/>
                <a:latin typeface="Consolas" panose="020B0609020204030204" pitchFamily="49" charset="0"/>
              </a:rPr>
              <a:t> wasting effort on unreliable per-incident forecasts.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• Actionable </a:t>
            </a:r>
            <a:r>
              <a:rPr lang="en-US" sz="1200" b="0" i="0" dirty="0" err="1">
                <a:effectLst/>
                <a:latin typeface="Consolas" panose="020B0609020204030204" pitchFamily="49" charset="0"/>
              </a:rPr>
              <a:t>optimisation</a:t>
            </a:r>
            <a:r>
              <a:rPr lang="en-US" sz="1200" b="0" i="0" dirty="0">
                <a:effectLst/>
                <a:latin typeface="Consolas" panose="020B0609020204030204" pitchFamily="49" charset="0"/>
              </a:rPr>
              <a:t>: prescriptive analytics produced a transparent, constraint-respecting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  dispatch formula a coordinator can apply in real time.</a:t>
            </a:r>
          </a:p>
          <a:p>
            <a:pPr algn="l">
              <a:buNone/>
            </a:pPr>
            <a:endParaRPr lang="en-US" sz="1200" b="0" i="0" dirty="0"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Critical evaluation (balanced):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• Strengths: faster, consistent, scalable, auditable decisions; surfaces patterns humans miss.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• Limitations: quality depends on data — with no signal, even an LSTM cannot forecast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  ("garbage in, garbage out"); models encode assumptions; outputs need human oversight for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  high-stakes dispatch.</a:t>
            </a:r>
          </a:p>
          <a:p>
            <a:pPr algn="l">
              <a:buNone/>
            </a:pPr>
            <a:endParaRPr lang="en-US" sz="1200" b="0" i="0" dirty="0"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Conclusion: data analytics is most valuable not only for predicting, but for telling the </a:t>
            </a:r>
            <a:r>
              <a:rPr lang="en-US" sz="1200" b="0" i="0" dirty="0" err="1">
                <a:effectLst/>
                <a:latin typeface="Consolas" panose="020B0609020204030204" pitchFamily="49" charset="0"/>
              </a:rPr>
              <a:t>centre</a:t>
            </a:r>
            <a:endParaRPr lang="en-US" sz="1200" b="0" i="0" dirty="0"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WHICH decisions can be data-driven (SLA setting, resource pre-positioning) and which still need</a:t>
            </a:r>
          </a:p>
          <a:p>
            <a:pPr algn="l">
              <a:buNone/>
            </a:pPr>
            <a:r>
              <a:rPr lang="en-US" sz="1200" b="0" i="0" dirty="0">
                <a:effectLst/>
                <a:latin typeface="Consolas" panose="020B0609020204030204" pitchFamily="49" charset="0"/>
              </a:rPr>
              <a:t>human judgement — that, itself, improves decision-making.</a:t>
            </a:r>
            <a:endParaRPr lang="en-US" sz="1200" b="0" i="0" dirty="0"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744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techniques used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2346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 in this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 — industry standard for data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manipulation — loading CSV, filtering, grouping, aggregation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computation — fast arrays, statistical calculations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 + Seaborn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visualisation — histograms, scatter, heatmaps, time series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— regression, feature selection,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 / Keras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— LSTM neural network for forecasting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pygad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Algorithm library — prescriptive optimisation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functions — Z-scores, probability distributions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analysis implemented in Python using Jupyter Notebooks (.ipynb) — the industry-standard environment for reproducible data science.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emergency response incidents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920240" cy="10058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105,120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analysed (2018–2019 subset)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51760" y="914400"/>
            <a:ext cx="1920240" cy="10058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5176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(after preprocessing)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1920240" cy="10058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15.07 min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response 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914400"/>
            <a:ext cx="1920240" cy="10058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21.44 min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SLA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9456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0: Missing values handled, Timestamp parsed (Year, Month, Hour extracted), 11 categorical columns Label-Encoded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output files saved: df_clean.csv (for visualisations) and df_encoded.csv (for ML models)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filter: only 2018–2019 records (105,120 of 155,779) — improves computation speed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Response_Time (range 5–30 min, std 4.88 min)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Descriptive Analytics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happened through 9 statistical techniques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371600" cy="54864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central tendency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114800" cy="22860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9888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Incident Severity Frequency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Activity_1_Descriptive_NEW.ipynb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6746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df['Incident_Severity'].value_counts().plot(kind='bar')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114800" cy="22860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822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9888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— Response Time Distribution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Activity_1_Descriptive_NEW.ipynb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3440" y="26746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plt.hist(df['Response_Time'], bins=20)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Low 59.99% (63K), Medium 30.01%, High 10.00% — most incidents routine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Urban 70.1%, Suburban 20.0%, Rural 9.9% — operations urban-centred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Response_Time: Mean = 15.07 min ≈ Median = 15.03 min → symmetric distribution, mean is a reliable KPI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6/22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0FD857-2A35-EE13-7FFE-1F1BF35B3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80383"/>
            <a:ext cx="4206240" cy="24797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63EF82-83CA-577E-06E8-D1B4BE301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680383"/>
            <a:ext cx="4343400" cy="24285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and position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114800" cy="22860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9888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Response Time (shows outliers, IQR, median)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Activity_1_Descriptive_NEW.ipynb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6746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sns.boxplot(x=df['Response_Time'])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731520"/>
          <a:ext cx="4297680" cy="18135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Response_Time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14.14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55.54% (highest)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(25th 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13.20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(75th 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37.69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24.49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(SLA)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21.44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20040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insights: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has the highest CV (55.54%) — biggest source of unpredictable response times; pre-positioning ambulances reduces this variability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= 21.44 min — 90% of incidents resolved within this time; set this as the data-driven SLA target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7/22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974F7A-C466-330A-BED6-DD9E25698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1" y="541906"/>
            <a:ext cx="4297680" cy="27566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— Z-score and IQR methods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65810"/>
            <a:ext cx="4114800" cy="22860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9888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Response Time (visible outliers above 28.5 min)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Activity_1_Descriptive_NEW.ipynb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6746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sns.boxplot(x=df['Response_Time']) — outlier section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114800" cy="22860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822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9888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Plot — Response Time KDE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Activity_1_Descriptive_NEW.ipynb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3440" y="26746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sns.kdeplot(df['Response_Time'])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outlier detection methods applied: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method (|Z| &gt; 3): detected 184 outliers — all at boundary values (~30 min)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(above Q3 + 1.5×IQR = 28.48 min): detected 381 outliers — more sensitive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extreme-delay incidents (&gt;28.48 min) should trigger mandatory post-incident review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8/22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7FFDD1C-619E-E232-C68D-0FE4E5F6D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58" y="594360"/>
            <a:ext cx="4349416" cy="26346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A7A620A-E552-D5E1-93D1-74394C9EF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59132"/>
            <a:ext cx="4349416" cy="2634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— single and multi-column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2743200" cy="18288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Region Type 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002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Activity_1.ipynb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df['Region_Type'].value_counts().plot(kind='pie')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685800"/>
            <a:ext cx="2743200" cy="18288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777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Plot — RT by Severity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002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Activity_1.ipynb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sns.violinplot(x='Incident_Severity', y='Response_Time')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685800"/>
            <a:ext cx="2743200" cy="18288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777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Distance vs 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002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Activity_1.ipynb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plt.scatter(df['Distance...'], df['Response_Time'])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2743200" cy="18288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788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7432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Avg RT by Region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0142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Activity_1.ipynb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4251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df.groupby('Region_Type')['Response_Time'].mean().plot(kind='bar')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0" y="2697480"/>
            <a:ext cx="2743200" cy="18288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0" y="2788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20040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 — Severity × Weather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40142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Activity_1.ipynb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0" y="4251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pivot_table().plot(kind='bar')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26480" y="2697480"/>
            <a:ext cx="2743200" cy="18288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26480" y="2788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12648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— Distance vs RT (size=Injuries)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40142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Activity_1.ipynb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26480" y="4251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plt.scatter(..., s=sample['Number_of_Injuries']*30)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9/22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424B4A4-6EC9-2522-F453-39FB36DE8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90" y="630936"/>
            <a:ext cx="2841859" cy="188823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366C507-49D1-48D4-1783-F882CD920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27" y="2551176"/>
            <a:ext cx="2810783" cy="225767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7D4C452-59B9-B627-CA93-04A58DA3D6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4347" y="2679193"/>
            <a:ext cx="2815305" cy="207568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605F5EF-AB05-5F9C-C23F-A7928F4473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0428" y="2640331"/>
            <a:ext cx="2870692" cy="202190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C912E45-08EE-5091-D592-9CD0604AB0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0428" y="630936"/>
            <a:ext cx="2963335" cy="194081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903B5AF-04CE-00A1-D1C3-D7DB98A660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2023" y="659512"/>
            <a:ext cx="2833231" cy="19156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and contingency tables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206240" cy="246888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6733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0436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Numeric Features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46339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Activity_1_Descriptive_NEW.ipynb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78434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sns.heatmap(corr, annot=True, cmap='coolwarm')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63440" y="6858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Tables computed: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Incident_Severity × Weather_Condition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Traffic_Congestion × Region_Type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91640"/>
          <a:ext cx="4114800" cy="14630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with 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Distance_to_Incident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Number_of_Injuries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Ambulance_Speed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Fuel_Level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Hospital_Capacity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8"/>
          <p:cNvSpPr/>
          <p:nvPr/>
        </p:nvSpPr>
        <p:spPr>
          <a:xfrm>
            <a:off x="457200" y="33375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Pearson correlations with Response_Time are near zero (max |r| = 0.01). No single numeric feature linearly predicts RT.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finding directly motivates the use of non-linear models in Activity 2 and constrained optimisation in Activity 3.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10/22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650535-3AF8-98A3-0775-E01D51390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66" y="662017"/>
            <a:ext cx="4323034" cy="26298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84" y="5474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 — SMA and EMA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572000" cy="22860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9431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Avg RT with SMA(3) and EMA(α=0.4)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3317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Activity_1_Descriptive_NEW.ipynb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6289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plt.plot(rt_series, sma_3, ema_4)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52022" y="68336"/>
            <a:ext cx="2917658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(Simple Moving Average, window=3): smooths short-term noise but lags 1-2 months behind recent changes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(Exponential Moving Average, α=0.4): more weight to recent values, reacts faster to changes — better for real-time monitoring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α (0.8) = highly reactive but noisy. Lower α (0.2) = very smooth but slow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Use EMA(α=0.4) for real-time dispatch dashboards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11/22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845DF61-22FB-D5A8-448E-079A6CE6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84" y="388620"/>
            <a:ext cx="5660858" cy="25188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28ED598-4DF8-F006-B441-6768B2AA2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84" y="2933852"/>
            <a:ext cx="5915635" cy="20953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how descriptive findings drive decisions (M2)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85800"/>
          <a:ext cx="8412480" cy="2209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Decision-making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70.1% Urban, 60% Low 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Concentrate resources in urban zones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tendency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≈ Median = 15.07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KPI; set 15-min performance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CV = 55.54%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Pre-position ambulances to reduce variability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= 21.44 min, IQR = 6.72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SLA at 21 min (covers 90% of incidents)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 incidents &gt;28.48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post-review for extreme delays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|r| ≈ 0 with 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models insufficient → motivates Activity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× Weather independent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doesn't cause severity, only delays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trend, range 0.34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EMA(α=0.4) for real-time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Predictive Analytics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Response_Time with 4 machine learning models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371600" cy="54864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— SelectKBest and RFE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 (Filter Method):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feature independently using F-regression (linear relationship strength). Selects top K=10.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(Wrapper Method):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Linear Regression, removes weakest feature iteratively until K=10 remain. Considers feature interactions.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846320" y="731520"/>
            <a:ext cx="4023360" cy="2194560"/>
          </a:xfrm>
          <a:prstGeom prst="rect">
            <a:avLst/>
          </a:prstGeom>
          <a:solidFill>
            <a:srgbClr val="F0F4F8"/>
          </a:solidFill>
          <a:ln w="190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0" y="777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BOTH methods (10 features)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14300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Incident_Type · Region_Type · Traffic_Congestion · Hospital_Capacity · Distance_to_Incident · Emergency_Level · Fuel_Level · Dispatch_Coordinator · Year · Month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agreed on the EXACT same 10 features — perfect agreement.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consistency confirms the stability of the selected feature set as the most relevant predictors for the modelling stage.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1–2: Linear Regression and KNN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114800" cy="365760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Baseline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best linear formula: RT = β₀ + β₁·F1 + ... + β₂₀·F20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Ordinary Least Squares (OLS) to minimise sum of squared errors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3.94 min · RMSE = 4.89 min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−0.0005 (≈ predicts the mean)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model — most stable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2344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test incident, finds 5 most similar training incidents (Euclidean distance) and averages their RT values.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4.30 min · RMSE = 5.35 min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−0.20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 — with 20 features, neighbours are not truly similar.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3–4: Decision Tree and LSTM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114800" cy="365760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if/else threshold rules to split data into leaf nodes (predictions).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5.71 min · RMSE = 7.11 min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−1.12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overfitting: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depth memorises noise; R²&lt;0 means worse than predicting mean.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(Deep Learning)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80160"/>
            <a:ext cx="3749040" cy="155448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937760" y="1901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351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Training History (Loss curves)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39938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Activity_2_Predictive_NEW.ipynb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0" y="260146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plt.plot(history.history['loss'])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LSTM(64) → Dense(32) → Dense(1)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23,873 trainable parameters, 50 epochs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MAE=4.05, RMSE=5.03, R²=−0.06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overfitting after epoch ~10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16/22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0D83976-E0C4-DC2F-8525-66D13B904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805" y="1188720"/>
            <a:ext cx="3892216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 (M3)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8595360" cy="201168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5361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8379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Bar Charts — MAE, RMSE, R² (3 panels)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17993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Activity_2_Predictive_NEW.ipynb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44144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fig, axes = plt.subplots(1, 3, ...) — Model Performance Comparison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1280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Best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Worst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Linear Regression — simplest model wins because the dataset has no strong feature-target signal; complex models overfit noise.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17/22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9226D9-909C-92ED-B83B-1D1735C47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97" y="594360"/>
            <a:ext cx="8814755" cy="22524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runs comparison — 30 random train/test splits (M3)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2834640" cy="219456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6093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9385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— MAE across 30 runs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311603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Activity_2_Predictive_NEW.ipynb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59689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ax.boxplot([results_multi[m]['MAE'] ...])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731520"/>
            <a:ext cx="2834640" cy="219456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822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16093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9385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— RMSE across 30 runs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311603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Activity_2_Predictive_NEW.ipynb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0" y="259689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ax.boxplot([results_multi[m]['RMSE'] ...])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731520"/>
            <a:ext cx="2743200" cy="219456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822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16093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— R² across 30 runs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311603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Activity_2_Predictive_NEW.ipynb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259689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ax.boxplot([results_multi[m]['R2'] ...])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boxplots reveal: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tightest box (most consistent across runs); average MAE = 3.90, range 3.78–4.05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moderate spread; average MAE = 4.27, range 4.10–4.45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widest box with outliers (most unstable); confirms overfitting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is not only best but also most stable — the recommended model for forecasting (D2)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18/22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91B1AC9-7509-33D3-0E16-1E42B5D03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698508"/>
            <a:ext cx="3017520" cy="236473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02646CE-6F9B-D149-BD5D-01BEBB98D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938" y="698508"/>
            <a:ext cx="2881563" cy="22785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DA6BC97-0F23-B8F2-1258-42D16FEC4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019" y="676276"/>
            <a:ext cx="2858101" cy="23412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 — predictive analytics for forecasting (D2)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937760" y="685800"/>
            <a:ext cx="3931920" cy="256032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937760" y="7772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937760" y="17099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20939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Actual vs Predicted Scatter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252923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Activity_2_Predictive_NEW.ipynb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37760" y="28620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plt.scatter(y_test, y_pred_lstm)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685800"/>
            <a:ext cx="4389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predictive analytics revealed: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models converge to R² ≈ 0 → no individual feature predicts 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model (Linear Regression) outperforms complex ones (LSTM)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trained successfully (loss 40→22.5) but cannot extract signal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without depth limit: R²=−1.12 (severe overfitting)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verdict: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regression cannot reliably forecast individual incidents from this dataset → motivates Activity 3's constrained optimisation approach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19/22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796C0C-8DB9-FF21-0CD7-30B35D1E4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836" y="564332"/>
            <a:ext cx="4070284" cy="279849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 — Prescriptive Analytics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with pygad library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371600" cy="54864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— concept and optimal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 works (pygad library):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chromosome = [w1, w2, w3, w4, b] (5 weights)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50 chromosomes evolving over 300 generations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tournament — fittest of random group becomes parent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Crossover: uniform — genes from either parent (50/50)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Mutation: random (20% genes); Elitism: top 5 preserved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−RMSE (maximise = minimise prediction error)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846320" y="685800"/>
            <a:ext cx="4023360" cy="23774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3776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bounds: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10515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 ∈ [0.2, 0.8] — Distance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 ∈ [0.1, 0.5] — Injuries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 ∈ [0.0, 0.03] — Hosp. Capacity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w4 ∈ [0.0, 0.04] — Fuel Level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∈ [5.0, 10.0] — Baseline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8412480" cy="1463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formula found by GA (M4):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 = 0.2011×Distance + 0.1004×Injuries + 0.0017×HospCap + 0.0041×Fuel + 9.4002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Predicted RT: 15.0541 min  |  Avg Actual RT: 15.0701 min  |  Difference: −0.016 min (essentially zero — unbiased)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convergence and dispatch application (D3)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206240" cy="2286000"/>
          </a:xfrm>
          <a:prstGeom prst="rect">
            <a:avLst/>
          </a:prstGeom>
          <a:solidFill>
            <a:srgbClr val="F9FAFB"/>
          </a:solidFill>
          <a:ln w="19050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9888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Convergence (pygad plot_fitness)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Activity_3_Prescriptive_NEW.ipynb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6746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ga_instance.plot_fitness()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analysis: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RMSE (gen 1) = 5.8782 min → Final RMSE (gen 300) = 5.6563 min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Stepped convergence: rapid drop in first 30 gens, second improvement at gen ~130, then stable plateau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plateau after gen ~150 confirms the GA found the global optimum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Dispatchers can rank ambulance units by predicted RT in real-time using the simple formula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22/22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A4B7F2-C494-420B-9582-66D773FF7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85801"/>
            <a:ext cx="4343400" cy="25085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7325BE0-5FDC-7362-F704-FDC181D0B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759" y="868680"/>
            <a:ext cx="4966988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2966</Words>
  <Application>Microsoft Office PowerPoint</Application>
  <PresentationFormat>On-screen Show (16:9)</PresentationFormat>
  <Paragraphs>440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 Response Analytics</dc:title>
  <dc:subject>PptxGenJS Presentation</dc:subject>
  <dc:creator>PptxGenJS</dc:creator>
  <cp:lastModifiedBy>AHMAD ALMAGHAIREH</cp:lastModifiedBy>
  <cp:revision>3</cp:revision>
  <dcterms:created xsi:type="dcterms:W3CDTF">2026-06-04T22:41:42Z</dcterms:created>
  <dcterms:modified xsi:type="dcterms:W3CDTF">2026-06-13T20:50:59Z</dcterms:modified>
</cp:coreProperties>
</file>